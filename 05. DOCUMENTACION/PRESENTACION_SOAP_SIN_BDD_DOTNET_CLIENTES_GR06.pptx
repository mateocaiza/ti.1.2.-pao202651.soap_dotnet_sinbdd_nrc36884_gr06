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300" r:id="rId4"/>
    <p:sldId id="258" r:id="rId5"/>
    <p:sldId id="259" r:id="rId6"/>
    <p:sldId id="261" r:id="rId7"/>
    <p:sldId id="262" r:id="rId8"/>
    <p:sldId id="278" r:id="rId9"/>
    <p:sldId id="279" r:id="rId10"/>
    <p:sldId id="284" r:id="rId11"/>
    <p:sldId id="329" r:id="rId12"/>
    <p:sldId id="287" r:id="rId13"/>
    <p:sldId id="293" r:id="rId14"/>
    <p:sldId id="295" r:id="rId16"/>
    <p:sldId id="321" r:id="rId17"/>
    <p:sldId id="296" r:id="rId19"/>
    <p:sldId id="297" r:id="rId20"/>
    <p:sldId id="29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82" Type="http://customschemas.google.com/relationships/presentationmetadata" Target="meta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152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24d66b2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2524d66b2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24d66b2ad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2524d66b2ad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ddeedea7d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deedea7d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24d66b2ad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524d66b2ad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127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dc40ab34ca_0_2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7635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524d66b2ad_0_4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2524d66b2ad_0_4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40"/>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9" name="Google Shape;29;p4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jpeg"/><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oracle.com/java/technologies/java-ee-glanc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CONVERSIÓN DE UNIDADES SOAP EN .NET SIN BASE DE DATOS</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Mateo Llumigusin</a:t>
            </a:r>
          </a:p>
          <a:p>
            <a:pPr marL="0" lvl="0" indent="0" algn="l" rtl="0">
              <a:lnSpc>
                <a:spcPct val="100000"/>
              </a:lnSpc>
              <a:spcBef>
                <a:spcPts val="0"/>
              </a:spcBef>
              <a:spcAft>
                <a:spcPts val="0"/>
              </a:spcAft>
              <a:buSzPts val="1472"/>
              <a:buNone/>
            </a:pPr>
            <a:r>
              <a:rPr lang="es-ES" b="1" dirty="0">
                <a:solidFill>
                  <a:schemeClr val="lt1"/>
                </a:solidFill>
              </a:rPr>
              <a:t>		Samir Mideros</a:t>
            </a:r>
            <a:endParaRPr dirty="0">
              <a:solidFill>
                <a:schemeClr val="lt1"/>
              </a:solidFill>
            </a:endParaRPr>
          </a:p>
          <a:p>
            <a:pPr marL="0" lvl="0" indent="0" algn="l" rtl="0">
              <a:lnSpc>
                <a:spcPct val="100000"/>
              </a:lnSpc>
              <a:spcBef>
                <a:spcPts val="0"/>
              </a:spcBef>
              <a:spcAft>
                <a:spcPts val="0"/>
              </a:spcAft>
              <a:buSzPts val="1472"/>
              <a:buNone/>
            </a:pPr>
            <a:r>
              <a:rPr lang="es-ES" b="1" dirty="0">
                <a:solidFill>
                  <a:schemeClr val="lt1"/>
                </a:solidFill>
              </a:rPr>
              <a:t>		Cesar Loor</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36884</a:t>
            </a: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28/10/2026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624325" y="1808081"/>
            <a:ext cx="8293914" cy="4649809"/>
            <a:chOff x="0" y="52173"/>
            <a:chExt cx="8269931" cy="3824461"/>
          </a:xfrm>
        </p:grpSpPr>
        <p:sp>
          <p:nvSpPr>
            <p:cNvPr id="113" name="Google Shape;113;p3"/>
            <p:cNvSpPr/>
            <p:nvPr/>
          </p:nvSpPr>
          <p:spPr>
            <a:xfrm>
              <a:off x="0" y="52173"/>
              <a:ext cx="8269800" cy="3824461"/>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33805" y="846009"/>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940705" y="148691"/>
              <a:ext cx="6995400" cy="3296584"/>
            </a:xfrm>
            <a:prstGeom prst="rect">
              <a:avLst/>
            </a:prstGeom>
            <a:noFill/>
            <a:ln>
              <a:noFill/>
            </a:ln>
          </p:spPr>
          <p:txBody>
            <a:bodyPr spcFirstLastPara="1" wrap="square" lIns="116775" tIns="116775" rIns="116775" bIns="116775" anchor="ctr" anchorCtr="0">
              <a:noAutofit/>
            </a:bodyPr>
            <a:lstStyle/>
            <a:p>
              <a:pPr marL="0" marR="0" lvl="0" indent="0" algn="just" rtl="0">
                <a:lnSpc>
                  <a:spcPct val="115000"/>
                </a:lnSpc>
                <a:spcBef>
                  <a:spcPts val="1200"/>
                </a:spcBef>
                <a:spcAft>
                  <a:spcPts val="0"/>
                </a:spcAft>
                <a:buClr>
                  <a:schemeClr val="dk1"/>
                </a:buClr>
                <a:buSzPts val="1100"/>
                <a:buFont typeface="Arial"/>
                <a:buNone/>
              </a:pPr>
              <a:endParaRPr lang="es-MX" sz="23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El objetivo de esta práctica es desarrollar un servicio web SOAP en .NET que permita la conversión de unidades de longitud, masa y temperatura.</a:t>
              </a: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La práctica busca: </a:t>
              </a:r>
            </a:p>
            <a:p>
              <a:pPr marL="342900" marR="0" lvl="0" indent="-342900" algn="just" rtl="0">
                <a:lnSpc>
                  <a:spcPct val="115000"/>
                </a:lnSpc>
                <a:spcBef>
                  <a:spcPts val="1200"/>
                </a:spcBef>
                <a:spcAft>
                  <a:spcPts val="0"/>
                </a:spcAft>
                <a:buClr>
                  <a:schemeClr val="dk1"/>
                </a:buClr>
                <a:buSzPts val="1100"/>
                <a:buFont typeface="Arial" panose="020B0604020202020204" pitchFamily="34" charset="0"/>
                <a:buChar char="•"/>
              </a:pPr>
              <a:r>
                <a:rPr lang="es-MX" sz="2300" dirty="0">
                  <a:solidFill>
                    <a:schemeClr val="dk1"/>
                  </a:solidFill>
                  <a:latin typeface="Gill Sans"/>
                </a:rPr>
                <a:t>Implementar un servicio web que exponga operaciones para convertir unidades de longitud, masa y temperatura sin uso de base de datos.</a:t>
              </a:r>
            </a:p>
            <a:p>
              <a:pPr marL="342900" indent="-342900" algn="just">
                <a:lnSpc>
                  <a:spcPct val="115000"/>
                </a:lnSpc>
                <a:spcBef>
                  <a:spcPts val="1200"/>
                </a:spcBef>
                <a:buClr>
                  <a:schemeClr val="dk1"/>
                </a:buClr>
                <a:buSzPts val="1100"/>
                <a:buFont typeface="Arial" panose="020B0604020202020204" pitchFamily="34" charset="0"/>
                <a:buChar char="•"/>
              </a:pPr>
              <a:r>
                <a:rPr lang="es-MX" sz="2300" dirty="0">
                  <a:solidFill>
                    <a:schemeClr val="dk1"/>
                  </a:solidFill>
                  <a:latin typeface="Gill Sans"/>
                </a:rPr>
                <a:t>Utilizar la tecnología .NET (C#) para crear, desplegar y consumir el servicio web desde clientes de consola, escritorio y móvil.</a:t>
              </a:r>
            </a:p>
            <a:p>
              <a:pPr marL="0" marR="0" lvl="0" indent="0" algn="just" rtl="0">
                <a:lnSpc>
                  <a:spcPct val="115000"/>
                </a:lnSpc>
                <a:spcBef>
                  <a:spcPts val="1200"/>
                </a:spcBef>
                <a:spcAft>
                  <a:spcPts val="0"/>
                </a:spcAft>
                <a:buClr>
                  <a:schemeClr val="dk1"/>
                </a:buClr>
                <a:buSzPts val="1100"/>
                <a:buFont typeface="Arial"/>
                <a:buNone/>
              </a:pPr>
              <a:endParaRPr sz="2300" b="0" i="0" u="none" strike="noStrike" cap="none" dirty="0">
                <a:solidFill>
                  <a:schemeClr val="dk1"/>
                </a:solidFill>
                <a:latin typeface="Gill Sans"/>
                <a:ea typeface="Gill Sans"/>
                <a:cs typeface="Gill Sans"/>
                <a:sym typeface="Gill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OBJETIVOS ESPECIFICOS</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581192" y="2081724"/>
            <a:ext cx="8337049" cy="4376166"/>
            <a:chOff x="-43008" y="597724"/>
            <a:chExt cx="8312941" cy="5380751"/>
          </a:xfrm>
        </p:grpSpPr>
        <p:sp>
          <p:nvSpPr>
            <p:cNvPr id="113" name="Google Shape;113;p3"/>
            <p:cNvSpPr/>
            <p:nvPr/>
          </p:nvSpPr>
          <p:spPr>
            <a:xfrm>
              <a:off x="-43008" y="1121588"/>
              <a:ext cx="8269800" cy="4856887"/>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64182" y="1950828"/>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1274533" y="1701123"/>
              <a:ext cx="6995400" cy="4073905"/>
            </a:xfrm>
            <a:prstGeom prst="rect">
              <a:avLst/>
            </a:prstGeom>
            <a:noFill/>
            <a:ln>
              <a:noFill/>
            </a:ln>
          </p:spPr>
          <p:txBody>
            <a:bodyPr spcFirstLastPara="1" wrap="square" lIns="116775" tIns="116775" rIns="116775" bIns="116775" anchor="ctr" anchorCtr="0">
              <a:noAutofit/>
            </a:bodyPr>
            <a:lstStyle/>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Estructurar el proyecto en capas lógicas (modelo, servicio, controlador y vista) para mejorar la organización y mantenibilidad del código.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Aplicar principios de la programación orientada a objetos en la implementación de la lógica de negocio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Verificar el correcto funcionamiento de las operaciones de conversión con pruebas desde los clientes.</a:t>
              </a:r>
            </a:p>
            <a:p>
              <a:pPr eaLnBrk="0" fontAlgn="base" hangingPunct="0">
                <a:spcBef>
                  <a:spcPct val="0"/>
                </a:spcBef>
                <a:spcAft>
                  <a:spcPct val="0"/>
                </a:spcAft>
                <a:buClrTx/>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Validar el acceso mediante autenticación con las credenciales MONSTER / MONSTER69 y comprobar los resultados en cada cliente.</a:t>
              </a:r>
            </a:p>
            <a:p>
              <a:pPr marL="285750" lvl="0" indent="-285750" eaLnBrk="0" fontAlgn="base" hangingPunct="0">
                <a:spcBef>
                  <a:spcPct val="0"/>
                </a:spcBef>
                <a:spcAft>
                  <a:spcPct val="0"/>
                </a:spcAft>
                <a:buClrTx/>
                <a:buFont typeface="Arial" panose="020B0604020202020204" pitchFamily="34" charset="0"/>
                <a:buChar char="•"/>
              </a:pPr>
              <a:endParaRPr lang="es-MX" sz="16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endParaRPr lang="es-MX" sz="2300" b="0" i="0" u="none" strike="noStrike" cap="none" dirty="0">
                <a:solidFill>
                  <a:schemeClr val="dk1"/>
                </a:solidFill>
                <a:latin typeface="Gill Sans"/>
                <a:ea typeface="Gill Sans"/>
                <a:cs typeface="Gill Sans"/>
                <a:sym typeface="Gill Sans"/>
              </a:endParaRPr>
            </a:p>
          </p:txBody>
        </p:sp>
      </p:grpSp>
    </p:spTree>
    <p:extLst>
      <p:ext uri="{BB962C8B-B14F-4D97-AF65-F5344CB8AC3E}">
        <p14:creationId xmlns:p14="http://schemas.microsoft.com/office/powerpoint/2010/main" val="52016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2" name="Google Shape;122;p7"/>
          <p:cNvSpPr/>
          <p:nvPr/>
        </p:nvSpPr>
        <p:spPr>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5" name="Google Shape;125;p7"/>
          <p:cNvSpPr txBox="1">
            <a:spLocks noGrp="1"/>
          </p:cNvSpPr>
          <p:nvPr>
            <p:ph type="title"/>
          </p:nvPr>
        </p:nvSpPr>
        <p:spPr>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pPr>
            <a:r>
              <a:rPr lang="es-ES" sz="5400">
                <a:solidFill>
                  <a:srgbClr val="FFFFFF"/>
                </a:solidFill>
              </a:rPr>
              <a:t>2	DESARROLLO</a:t>
            </a:r>
            <a:endParaRPr sz="5400">
              <a:solidFill>
                <a:srgbClr val="FFFFFF"/>
              </a:solidFill>
            </a:endParaRPr>
          </a:p>
        </p:txBody>
      </p:sp>
      <p:sp>
        <p:nvSpPr>
          <p:cNvPr id="126" name="Google Shape;126;p7"/>
          <p:cNvSpPr txBox="1">
            <a:spLocks noGrp="1"/>
          </p:cNvSpPr>
          <p:nvPr>
            <p:ph type="body" idx="1"/>
          </p:nvPr>
        </p:nvSpPr>
        <p:spPr>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pPr>
            <a:endParaRPr/>
          </a:p>
          <a:p>
            <a:pPr marL="306000" lvl="0" indent="-200844" algn="l" rtl="0">
              <a:lnSpc>
                <a:spcPct val="100000"/>
              </a:lnSpc>
              <a:spcBef>
                <a:spcPts val="960"/>
              </a:spcBef>
              <a:spcAft>
                <a:spcPts val="0"/>
              </a:spcAft>
              <a:buSzPts val="1656"/>
              <a:buNone/>
            </a:pPr>
            <a:endParaRPr/>
          </a:p>
        </p:txBody>
      </p:sp>
      <p:sp>
        <p:nvSpPr>
          <p:cNvPr id="127" name="Google Shape;127;p7"/>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MX"/>
              <a:t>2.1.1.	CREACIÓN DEL PROYECTO SERVIDOR </a:t>
            </a:r>
            <a:endParaRPr lang="es-ES"/>
          </a:p>
        </p:txBody>
      </p:sp>
      <p:sp>
        <p:nvSpPr>
          <p:cNvPr id="133" name="Google Shape;133;p8"/>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8</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5" name="Google Shape;135;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36" name="Google Shape;136;p8"/>
          <p:cNvPicPr preferRelativeResize="0"/>
          <p:nvPr/>
        </p:nvPicPr>
        <p:blipFill>
          <a:blip r:embed="rId3">
            <a:alphaModFix/>
          </a:blip>
          <a:stretch>
            <a:fillRect/>
          </a:stretch>
        </p:blipFill>
        <p:spPr>
          <a:xfrm>
            <a:off x="3552825" y="2215731"/>
            <a:ext cx="5086350" cy="3638550"/>
          </a:xfrm>
          <a:prstGeom prst="rect">
            <a:avLst/>
          </a:prstGeom>
          <a:noFill/>
          <a:ln>
            <a:noFill/>
          </a:ln>
        </p:spPr>
      </p:pic>
      <p:sp>
        <p:nvSpPr>
          <p:cNvPr id="137" name="Google Shape;137;p8"/>
          <p:cNvSpPr txBox="1">
            <a:spLocks noGrp="1"/>
          </p:cNvSpPr>
          <p:nvPr>
            <p:ph type="body" idx="1"/>
          </p:nvPr>
        </p:nvSpPr>
        <p:spPr>
          <a:xfrm>
            <a:off x="0" y="205780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Para empezar con la creación del web service SOAP sin base de datos en .NET, se crea un proyecto “Aplicación de servicio WCF” (.NET Framework 4.8) en Visual Studio Community 2026.</a:t>
            </a:r>
            <a:endParaRPr>
              <a:solidFill>
                <a:schemeClr val="dk1"/>
              </a:solidFill>
            </a:endParaRPr>
          </a:p>
          <a:p>
            <a:pPr marL="457200" lvl="0" indent="0" algn="l" rtl="0">
              <a:lnSpc>
                <a:spcPct val="115000"/>
              </a:lnSpc>
              <a:spcBef>
                <a:spcPts val="0"/>
              </a:spcBef>
              <a:spcAft>
                <a:spcPts val="0"/>
              </a:spcAft>
              <a:buNone/>
            </a:pP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38" name="Google Shape;138;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24d66b2ad_0_10"/>
          <p:cNvSpPr txBox="1">
            <a:spLocks noGrp="1"/>
          </p:cNvSpPr>
          <p:nvPr>
            <p:ph type="body" idx="1"/>
          </p:nvPr>
        </p:nvSpPr>
        <p:spPr>
          <a:xfrm>
            <a:off x="4928123" y="222741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El proyecto correrá en IIS Express sobre .NET Framework 4.8, publicando el contrato con WCF (Service1.svc).</a:t>
            </a:r>
            <a:endParaRPr>
              <a:solidFill>
                <a:schemeClr val="dk1"/>
              </a:solidFill>
            </a:endParaRPr>
          </a:p>
          <a:p>
            <a:pPr marL="0" lvl="0" indent="0" algn="l" rtl="0">
              <a:lnSpc>
                <a:spcPct val="115000"/>
              </a:lnSpc>
              <a:spcBef>
                <a:spcPts val="1200"/>
              </a:spcBef>
              <a:spcAft>
                <a:spcPts val="0"/>
              </a:spcAft>
              <a:buClr>
                <a:schemeClr val="dk1"/>
              </a:buClr>
              <a:buSzPts val="1656"/>
              <a:buNone/>
            </a:pPr>
            <a:r>
              <a:rPr lang="es-ES">
                <a:solidFill>
                  <a:schemeClr val="dk1"/>
                </a:solidFill>
              </a:rPr>
              <a:t> </a:t>
            </a: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54" name="Google Shape;154;g2524d66b2ad_0_1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55" name="Google Shape;155;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7" name="Google Shape;157;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58" name="Google Shape;158;g2524d66b2ad_0_10" descr="Interfaz de usuario gráfica, Texto, Aplicación&#10;&#10;Descripción generada automáticamente"/>
          <p:cNvPicPr preferRelativeResize="0"/>
          <p:nvPr/>
        </p:nvPicPr>
        <p:blipFill>
          <a:blip r:embed="rId3">
            <a:alphaModFix/>
          </a:blip>
          <a:stretch>
            <a:fillRect/>
          </a:stretch>
        </p:blipFill>
        <p:spPr>
          <a:xfrm>
            <a:off x="789751" y="4157853"/>
            <a:ext cx="3699900" cy="2575625"/>
          </a:xfrm>
          <a:prstGeom prst="rect">
            <a:avLst/>
          </a:prstGeom>
          <a:noFill/>
          <a:ln>
            <a:noFill/>
          </a:ln>
        </p:spPr>
      </p:pic>
      <p:sp>
        <p:nvSpPr>
          <p:cNvPr id="159" name="Google Shape;159;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61BF90E4-2C39-3FFD-D3D0-6EA62B4BB893}"/>
              </a:ext>
            </a:extLst>
          </p:cNvPr>
          <p:cNvPicPr>
            <a:picLocks noChangeAspect="1"/>
          </p:cNvPicPr>
          <p:nvPr/>
        </p:nvPicPr>
        <p:blipFill>
          <a:blip r:embed="rId4"/>
          <a:stretch>
            <a:fillRect/>
          </a:stretch>
        </p:blipFill>
        <p:spPr>
          <a:xfrm>
            <a:off x="1012710" y="1897936"/>
            <a:ext cx="3038469" cy="203238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2524d66b2ad_0_22"/>
          <p:cNvSpPr txBox="1">
            <a:spLocks noGrp="1"/>
          </p:cNvSpPr>
          <p:nvPr>
            <p:ph type="body" idx="1"/>
          </p:nvPr>
        </p:nvSpPr>
        <p:spPr>
          <a:xfrm>
            <a:off x="397608" y="2126657"/>
            <a:ext cx="3312300" cy="4400100"/>
          </a:xfrm>
          <a:prstGeom prst="rect">
            <a:avLst/>
          </a:prstGeom>
          <a:noFill/>
          <a:ln>
            <a:noFill/>
          </a:ln>
        </p:spPr>
        <p:txBody>
          <a:bodyPr spcFirstLastPara="1" wrap="square" lIns="91425" tIns="45700" rIns="91425" bIns="45700" anchor="ctr" anchorCtr="0">
            <a:normAutofit/>
          </a:bodyPr>
          <a:lstStyle/>
          <a:p>
            <a:pPr marL="306000" lvl="0" indent="-290225" algn="l" rtl="0">
              <a:lnSpc>
                <a:spcPct val="115000"/>
              </a:lnSpc>
              <a:spcBef>
                <a:spcPts val="1200"/>
              </a:spcBef>
              <a:spcAft>
                <a:spcPts val="0"/>
              </a:spcAft>
              <a:buClr>
                <a:schemeClr val="dk1"/>
              </a:buClr>
              <a:buSzPct val="91998"/>
              <a:buChar char="◼"/>
            </a:pPr>
            <a:r>
              <a:rPr lang="es-MX" dirty="0">
                <a:solidFill>
                  <a:schemeClr val="dk1"/>
                </a:solidFill>
              </a:rPr>
              <a:t>Se crean el contrato (IService1), la implementación (Service1.svc.cs) y la carpeta Models con la lógica de conversión; luego se procede a la codificación.</a:t>
            </a: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165" name="Google Shape;165;g2524d66b2ad_0_22"/>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66" name="Google Shape;166;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67" name="Google Shape;167;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70" name="Google Shape;170;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92D423EF-12D3-125D-3074-55772CB38033}"/>
              </a:ext>
            </a:extLst>
          </p:cNvPr>
          <p:cNvPicPr>
            <a:picLocks noChangeAspect="1"/>
          </p:cNvPicPr>
          <p:nvPr/>
        </p:nvPicPr>
        <p:blipFill>
          <a:blip r:embed="rId3"/>
          <a:stretch>
            <a:fillRect/>
          </a:stretch>
        </p:blipFill>
        <p:spPr>
          <a:xfrm>
            <a:off x="3961911" y="3429000"/>
            <a:ext cx="4727575" cy="154686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deedea7d3_1_27"/>
          <p:cNvSpPr txBox="1">
            <a:spLocks noGrp="1"/>
          </p:cNvSpPr>
          <p:nvPr>
            <p:ph type="body" idx="1"/>
          </p:nvPr>
        </p:nvSpPr>
        <p:spPr>
          <a:xfrm>
            <a:off x="581200" y="2180500"/>
            <a:ext cx="3312300" cy="4400100"/>
          </a:xfrm>
          <a:prstGeom prst="rect">
            <a:avLst/>
          </a:prstGeom>
          <a:noFill/>
          <a:ln>
            <a:noFill/>
          </a:ln>
        </p:spPr>
        <p:txBody>
          <a:bodyPr spcFirstLastPara="1" wrap="square" lIns="91425" tIns="45700" rIns="91425" bIns="45700" anchor="ctr" anchorCtr="0">
            <a:normAutofit/>
          </a:bodyPr>
          <a:lstStyle/>
          <a:p>
            <a:r>
              <a:rPr lang="es-EC" dirty="0"/>
              <a:t>Realizado el servidor se avanza a las aplicaciones cliente; para el cliente de escritorio se crea un nuevo proyecto de tipo Windows Forms (.NET Framework 4.8).</a:t>
            </a:r>
          </a:p>
          <a:p>
            <a:pPr marL="306000" lvl="0" indent="0" algn="just" rtl="0">
              <a:lnSpc>
                <a:spcPct val="115000"/>
              </a:lnSpc>
              <a:spcBef>
                <a:spcPts val="1200"/>
              </a:spcBef>
              <a:spcAft>
                <a:spcPts val="1200"/>
              </a:spcAft>
              <a:buSzPts val="1656"/>
              <a:buNone/>
            </a:pPr>
            <a:endParaRPr dirty="0">
              <a:solidFill>
                <a:schemeClr val="dk1"/>
              </a:solidFill>
            </a:endParaRPr>
          </a:p>
        </p:txBody>
      </p:sp>
      <p:sp>
        <p:nvSpPr>
          <p:cNvPr id="339" name="Google Shape;339;g1ddeedea7d3_1_27"/>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40" name="Google Shape;340;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1" name="Google Shape;341;g1ddeedea7d3_1_27"/>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2.2 CREACIÓN DEL PROYECTO </a:t>
            </a:r>
            <a:r>
              <a:rPr lang="es-EC"/>
              <a:t>ESCRITORIO CLIENTE</a:t>
            </a:r>
            <a:endParaRPr/>
          </a:p>
        </p:txBody>
      </p:sp>
      <p:sp>
        <p:nvSpPr>
          <p:cNvPr id="342" name="Google Shape;342;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4" name="Google Shape;344;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F263B2C0-A2F9-BA45-878D-79922572D931}"/>
              </a:ext>
            </a:extLst>
          </p:cNvPr>
          <p:cNvPicPr>
            <a:picLocks noChangeAspect="1"/>
          </p:cNvPicPr>
          <p:nvPr/>
        </p:nvPicPr>
        <p:blipFill>
          <a:blip r:embed="rId3"/>
          <a:stretch>
            <a:fillRect/>
          </a:stretch>
        </p:blipFill>
        <p:spPr>
          <a:xfrm>
            <a:off x="3942851" y="2505486"/>
            <a:ext cx="5125165" cy="30198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524d66b2ad_0_260"/>
          <p:cNvSpPr txBox="1">
            <a:spLocks noGrp="1"/>
          </p:cNvSpPr>
          <p:nvPr>
            <p:ph type="body" idx="1"/>
          </p:nvPr>
        </p:nvSpPr>
        <p:spPr>
          <a:xfrm>
            <a:off x="393454" y="2027310"/>
            <a:ext cx="3312300" cy="4400100"/>
          </a:xfrm>
          <a:prstGeom prst="rect">
            <a:avLst/>
          </a:prstGeom>
          <a:noFill/>
          <a:ln>
            <a:noFill/>
          </a:ln>
        </p:spPr>
        <p:txBody>
          <a:bodyPr spcFirstLastPara="1" wrap="square" lIns="91425" tIns="45700" rIns="91425" bIns="45700" anchor="ctr" anchorCtr="0">
            <a:normAutofit fontScale="92500" lnSpcReduction="10000"/>
          </a:bodyPr>
          <a:lstStyle/>
          <a:p>
            <a:pPr marL="306000" lvl="0" indent="0" algn="l" rtl="0">
              <a:lnSpc>
                <a:spcPct val="115000"/>
              </a:lnSpc>
              <a:spcBef>
                <a:spcPts val="1200"/>
              </a:spcBef>
              <a:spcAft>
                <a:spcPts val="0"/>
              </a:spcAft>
              <a:buSzPct val="108235"/>
              <a:buNone/>
            </a:pPr>
            <a:r>
              <a:rPr lang="es-MX">
                <a:solidFill>
                  <a:schemeClr val="dk1"/>
                </a:solidFill>
              </a:rPr>
              <a:t>Después de la creación de la aplicación, el paso inicial implica la generación del cliente del servicio web. Se hace clic derecho en el proyecto, “Agregar &gt; Referencia de servicio” y se indica la URL del WSDL del servidor (Service1.svc?wsdl).</a:t>
            </a:r>
            <a:endParaRPr>
              <a:solidFill>
                <a:schemeClr val="dk1"/>
              </a:solidFill>
            </a:endParaRPr>
          </a:p>
          <a:p>
            <a:pPr marL="306000" lvl="0" indent="0" algn="just" rtl="0">
              <a:lnSpc>
                <a:spcPct val="115000"/>
              </a:lnSpc>
              <a:spcBef>
                <a:spcPts val="1200"/>
              </a:spcBef>
              <a:spcAft>
                <a:spcPts val="1200"/>
              </a:spcAft>
              <a:buSzPct val="108235"/>
              <a:buNone/>
            </a:pPr>
            <a:endParaRPr>
              <a:solidFill>
                <a:schemeClr val="dk1"/>
              </a:solidFill>
            </a:endParaRPr>
          </a:p>
        </p:txBody>
      </p:sp>
      <p:sp>
        <p:nvSpPr>
          <p:cNvPr id="350" name="Google Shape;350;g2524d66b2ad_0_26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51" name="Google Shape;351;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2" name="Google Shape;352;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5" name="Google Shape;355;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8" name="Imagen 7">
            <a:extLst>
              <a:ext uri="{FF2B5EF4-FFF2-40B4-BE49-F238E27FC236}">
                <a16:creationId xmlns:a16="http://schemas.microsoft.com/office/drawing/2014/main" id="{6253BA09-379B-4E92-AB2C-E24C0CBC191D}"/>
              </a:ext>
            </a:extLst>
          </p:cNvPr>
          <p:cNvPicPr/>
          <p:nvPr/>
        </p:nvPicPr>
        <p:blipFill>
          <a:blip r:embed="rId3"/>
          <a:stretch>
            <a:fillRect/>
          </a:stretch>
        </p:blipFill>
        <p:spPr>
          <a:xfrm>
            <a:off x="4043044" y="2228849"/>
            <a:ext cx="4694555" cy="3650403"/>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Al mismo tiempo se creará un formulario (Windows Form) para el Inicio de Sesión</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5F01CC4F-5B3D-B8C0-E049-3AB96A13EAB8}"/>
              </a:ext>
            </a:extLst>
          </p:cNvPr>
          <p:cNvPicPr>
            <a:picLocks noChangeAspect="1"/>
          </p:cNvPicPr>
          <p:nvPr/>
        </p:nvPicPr>
        <p:blipFill>
          <a:blip r:embed="rId3"/>
          <a:stretch>
            <a:fillRect/>
          </a:stretch>
        </p:blipFill>
        <p:spPr>
          <a:xfrm>
            <a:off x="4030602" y="2584382"/>
            <a:ext cx="4859587" cy="30610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De igual manera se creará un formulario (Windows Form) para la conversión de unidades</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A667854C-2BCA-23A4-106D-54F6F23E98FA}"/>
              </a:ext>
            </a:extLst>
          </p:cNvPr>
          <p:cNvPicPr>
            <a:picLocks noChangeAspect="1"/>
          </p:cNvPicPr>
          <p:nvPr/>
        </p:nvPicPr>
        <p:blipFill>
          <a:blip r:embed="rId3"/>
          <a:stretch>
            <a:fillRect/>
          </a:stretch>
        </p:blipFill>
        <p:spPr>
          <a:xfrm>
            <a:off x="3633823" y="2236304"/>
            <a:ext cx="5122550" cy="3043227"/>
          </a:xfrm>
          <a:prstGeom prst="rect">
            <a:avLst/>
          </a:prstGeom>
        </p:spPr>
      </p:pic>
    </p:spTree>
    <p:extLst>
      <p:ext uri="{BB962C8B-B14F-4D97-AF65-F5344CB8AC3E}">
        <p14:creationId xmlns:p14="http://schemas.microsoft.com/office/powerpoint/2010/main" val="1664165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1dc40ab34ca_0_21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a:t>
            </a:r>
            <a:endParaRPr/>
          </a:p>
          <a:p>
            <a:pPr marL="0" lvl="0" indent="0" algn="l" rtl="0">
              <a:lnSpc>
                <a:spcPct val="100000"/>
              </a:lnSpc>
              <a:spcBef>
                <a:spcPts val="0"/>
              </a:spcBef>
              <a:spcAft>
                <a:spcPts val="0"/>
              </a:spcAft>
              <a:buClr>
                <a:schemeClr val="lt1"/>
              </a:buClr>
              <a:buSzPct val="100000"/>
              <a:buFont typeface="Gill Sans"/>
              <a:buNone/>
            </a:pPr>
            <a:r>
              <a:rPr lang="es-ES"/>
              <a:t>DE CONSOLA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437" name="Google Shape;437;g1dc40ab34ca_0_21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440" name="Google Shape;440;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0" name="Imagen 9">
            <a:extLst>
              <a:ext uri="{FF2B5EF4-FFF2-40B4-BE49-F238E27FC236}">
                <a16:creationId xmlns:a16="http://schemas.microsoft.com/office/drawing/2014/main" id="{08A14BF4-F875-420D-9C69-85F16EC346D9}"/>
              </a:ext>
            </a:extLst>
          </p:cNvPr>
          <p:cNvPicPr/>
          <p:nvPr/>
        </p:nvPicPr>
        <p:blipFill>
          <a:blip r:embed="rId3"/>
          <a:stretch>
            <a:fillRect/>
          </a:stretch>
        </p:blipFill>
        <p:spPr>
          <a:xfrm>
            <a:off x="3149649" y="2218412"/>
            <a:ext cx="3156325" cy="1678756"/>
          </a:xfrm>
          <a:prstGeom prst="rect">
            <a:avLst/>
          </a:prstGeom>
          <a:ln w="88900" cap="sq" cmpd="thickThin">
            <a:solidFill>
              <a:srgbClr val="000000"/>
            </a:solidFill>
            <a:prstDash val="solid"/>
            <a:miter lim="800000"/>
          </a:ln>
          <a:effectLst>
            <a:innerShdw blurRad="76200">
              <a:srgbClr val="000000"/>
            </a:innerShdw>
          </a:effectLst>
        </p:spPr>
      </p:pic>
      <p:pic>
        <p:nvPicPr>
          <p:cNvPr id="11" name="Imagen 10">
            <a:extLst>
              <a:ext uri="{FF2B5EF4-FFF2-40B4-BE49-F238E27FC236}">
                <a16:creationId xmlns:a16="http://schemas.microsoft.com/office/drawing/2014/main" id="{9E02E913-8741-4690-BEE2-367EA4FD8362}"/>
              </a:ext>
            </a:extLst>
          </p:cNvPr>
          <p:cNvPicPr/>
          <p:nvPr/>
        </p:nvPicPr>
        <p:blipFill rotWithShape="1">
          <a:blip r:embed="rId4"/>
          <a:srcRect b="7514"/>
          <a:stretch/>
        </p:blipFill>
        <p:spPr bwMode="auto">
          <a:xfrm>
            <a:off x="3088180" y="4216680"/>
            <a:ext cx="3271979" cy="194782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a:extLst>
            <a:ext uri="{53640926-AAD7-44D8-BBD7-CCE9431645EC}">
              <a14:shadowObscured xmlns:a14="http://schemas.microsoft.com/office/drawing/2010/main"/>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MÓVIL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530C689D-356E-0492-265D-7A95BE6D9ED6}"/>
              </a:ext>
            </a:extLst>
          </p:cNvPr>
          <p:cNvPicPr>
            <a:picLocks noChangeAspect="1"/>
          </p:cNvPicPr>
          <p:nvPr/>
        </p:nvPicPr>
        <p:blipFill>
          <a:blip r:embed="rId3"/>
          <a:stretch>
            <a:fillRect/>
          </a:stretch>
        </p:blipFill>
        <p:spPr>
          <a:xfrm>
            <a:off x="1960578" y="2094899"/>
            <a:ext cx="5543466" cy="39837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2524d66b2ad_0_476"/>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3 EJECUCIÓN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 name="TextBox 2">
            <a:extLst>
              <a:ext uri="{FF2B5EF4-FFF2-40B4-BE49-F238E27FC236}">
                <a16:creationId xmlns:a16="http://schemas.microsoft.com/office/drawing/2014/main" id="{014C9986-281E-B768-CBED-79EECC0EE90D}"/>
              </a:ext>
            </a:extLst>
          </p:cNvPr>
          <p:cNvSpPr txBox="1"/>
          <p:nvPr/>
        </p:nvSpPr>
        <p:spPr>
          <a:xfrm>
            <a:off x="415015" y="1984786"/>
            <a:ext cx="6104020" cy="423514"/>
          </a:xfrm>
          <a:prstGeom prst="rect">
            <a:avLst/>
          </a:prstGeom>
          <a:noFill/>
        </p:spPr>
        <p:txBody>
          <a:bodyPr wrap="square">
            <a:spAutoFit/>
          </a:bodyPr>
          <a:lstStyle/>
          <a:p>
            <a:pPr>
              <a:lnSpc>
                <a:spcPct val="115000"/>
              </a:lnSpc>
              <a:spcAft>
                <a:spcPts val="1000"/>
              </a:spcAft>
            </a:pPr>
            <a:r>
              <a:rPr lang="es-ES" sz="2000" b="1">
                <a:solidFill>
                  <a:srgbClr val="244061"/>
                </a:solidFill>
                <a:effectLst/>
                <a:latin typeface="Arial" panose="020B0604020202020204" pitchFamily="34" charset="0"/>
                <a:ea typeface="SimSun" panose="02010600030101010101" pitchFamily="2" charset="-122"/>
                <a:cs typeface="Arial" panose="020B0604020202020204" pitchFamily="34" charset="0"/>
              </a:rPr>
              <a:t>Ejecución de cliente consola</a:t>
            </a:r>
            <a:endParaRPr lang="es-EC" sz="120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Imagen 3">
            <a:extLst>
              <a:ext uri="{FF2B5EF4-FFF2-40B4-BE49-F238E27FC236}">
                <a16:creationId xmlns:a16="http://schemas.microsoft.com/office/drawing/2014/main" id="{38E7E138-81D4-04AA-031E-9CFB410FECD6}"/>
              </a:ext>
            </a:extLst>
          </p:cNvPr>
          <p:cNvPicPr>
            <a:picLocks noChangeAspect="1"/>
          </p:cNvPicPr>
          <p:nvPr/>
        </p:nvPicPr>
        <p:blipFill>
          <a:blip r:embed="rId3"/>
          <a:stretch>
            <a:fillRect/>
          </a:stretch>
        </p:blipFill>
        <p:spPr>
          <a:xfrm>
            <a:off x="3000000" y="2514064"/>
            <a:ext cx="3343742" cy="40867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 name="Title 4">
            <a:extLst>
              <a:ext uri="{FF2B5EF4-FFF2-40B4-BE49-F238E27FC236}">
                <a16:creationId xmlns:a16="http://schemas.microsoft.com/office/drawing/2014/main" id="{4B3B84C6-6A8A-D086-F942-5F36FF284384}"/>
              </a:ext>
            </a:extLst>
          </p:cNvPr>
          <p:cNvSpPr>
            <a:spLocks noGrp="1"/>
          </p:cNvSpPr>
          <p:nvPr>
            <p:ph type="title"/>
          </p:nvPr>
        </p:nvSpPr>
        <p:spPr/>
        <p:txBody>
          <a:bodyPr>
            <a:normAutofit fontScale="90000"/>
          </a:bodyPr>
          <a:lstStyle/>
          <a:p>
            <a:r>
              <a:rPr lang="es-ES" b="1">
                <a:solidFill>
                  <a:schemeClr val="bg1"/>
                </a:solidFill>
                <a:effectLst/>
                <a:latin typeface="Arial" panose="020B0604020202020204" pitchFamily="34" charset="0"/>
                <a:ea typeface="SimSun" panose="02010600030101010101" pitchFamily="2" charset="-122"/>
              </a:rPr>
              <a:t>Ejecución del cliente escritorio:</a:t>
            </a:r>
            <a:br>
              <a:rPr lang="es-ES" b="1">
                <a:solidFill>
                  <a:schemeClr val="bg1"/>
                </a:solidFill>
                <a:effectLst/>
                <a:latin typeface="Arial" panose="020B0604020202020204" pitchFamily="34" charset="0"/>
                <a:ea typeface="SimSun" panose="02010600030101010101" pitchFamily="2" charset="-122"/>
              </a:rPr>
            </a:br>
            <a:endParaRPr lang="es-EC" sz="4000">
              <a:solidFill>
                <a:schemeClr val="bg1"/>
              </a:solidFill>
            </a:endParaRPr>
          </a:p>
        </p:txBody>
      </p:sp>
      <p:pic>
        <p:nvPicPr>
          <p:cNvPr id="3" name="Imagen 2">
            <a:extLst>
              <a:ext uri="{FF2B5EF4-FFF2-40B4-BE49-F238E27FC236}">
                <a16:creationId xmlns:a16="http://schemas.microsoft.com/office/drawing/2014/main" id="{3FE5B071-7888-3892-457E-EB6963F41D32}"/>
              </a:ext>
            </a:extLst>
          </p:cNvPr>
          <p:cNvPicPr>
            <a:picLocks noChangeAspect="1"/>
          </p:cNvPicPr>
          <p:nvPr/>
        </p:nvPicPr>
        <p:blipFill>
          <a:blip r:embed="rId3"/>
          <a:stretch>
            <a:fillRect/>
          </a:stretch>
        </p:blipFill>
        <p:spPr>
          <a:xfrm>
            <a:off x="392325" y="1530626"/>
            <a:ext cx="4702124" cy="2961861"/>
          </a:xfrm>
          <a:prstGeom prst="rect">
            <a:avLst/>
          </a:prstGeom>
        </p:spPr>
      </p:pic>
      <p:pic>
        <p:nvPicPr>
          <p:cNvPr id="6" name="Imagen 5">
            <a:extLst>
              <a:ext uri="{FF2B5EF4-FFF2-40B4-BE49-F238E27FC236}">
                <a16:creationId xmlns:a16="http://schemas.microsoft.com/office/drawing/2014/main" id="{DCC5F5B4-A8D4-825A-F9F7-788DF3D1C9BE}"/>
              </a:ext>
            </a:extLst>
          </p:cNvPr>
          <p:cNvPicPr>
            <a:picLocks noChangeAspect="1"/>
          </p:cNvPicPr>
          <p:nvPr/>
        </p:nvPicPr>
        <p:blipFill>
          <a:blip r:embed="rId4"/>
          <a:stretch>
            <a:fillRect/>
          </a:stretch>
        </p:blipFill>
        <p:spPr>
          <a:xfrm>
            <a:off x="4071758" y="3899661"/>
            <a:ext cx="4784826" cy="2842591"/>
          </a:xfrm>
          <a:prstGeom prst="rect">
            <a:avLst/>
          </a:prstGeom>
        </p:spPr>
      </p:pic>
    </p:spTree>
    <p:extLst>
      <p:ext uri="{BB962C8B-B14F-4D97-AF65-F5344CB8AC3E}">
        <p14:creationId xmlns:p14="http://schemas.microsoft.com/office/powerpoint/2010/main" val="1823293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2524d66b2ad_0_490"/>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pPr>
            <a:r>
              <a:rPr lang="es-ES"/>
              <a:t> </a:t>
            </a:r>
            <a:endParaRPr/>
          </a:p>
        </p:txBody>
      </p:sp>
      <p:sp>
        <p:nvSpPr>
          <p:cNvPr id="539" name="Google Shape;539;g2524d66b2ad_0_49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40" name="Google Shape;540;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1" name="Google Shape;541;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4" name="Google Shape;544;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3	</a:t>
            </a:r>
            <a:r>
              <a:rPr lang="es-ES" sz="1100" dirty="0">
                <a:solidFill>
                  <a:srgbClr val="FFFF00"/>
                </a:solidFill>
                <a:latin typeface="Gill Sans"/>
                <a:ea typeface="Gill Sans"/>
                <a:cs typeface="Gill Sans"/>
                <a:sym typeface="Gill Sans"/>
              </a:rPr>
              <a:t>EJECUCIÓN</a:t>
            </a:r>
            <a:endParaRPr sz="1100" b="0" i="0" u="none" strike="noStrike" cap="none" dirty="0">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5	RECOMENDACIONES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6	BIBLIOGRAFÍA</a:t>
            </a:r>
            <a:endParaRPr sz="1100" b="0" i="0" u="none" strike="noStrike" cap="none" dirty="0">
              <a:solidFill>
                <a:srgbClr val="FFFF00"/>
              </a:solidFill>
              <a:latin typeface="Gill Sans"/>
              <a:ea typeface="Gill Sans"/>
              <a:cs typeface="Gill Sans"/>
              <a:sym typeface="Gill Sans"/>
            </a:endParaRPr>
          </a:p>
        </p:txBody>
      </p:sp>
      <p:sp>
        <p:nvSpPr>
          <p:cNvPr id="4" name="TextBox 3">
            <a:extLst>
              <a:ext uri="{FF2B5EF4-FFF2-40B4-BE49-F238E27FC236}">
                <a16:creationId xmlns:a16="http://schemas.microsoft.com/office/drawing/2014/main" id="{EF73760E-80E4-6BAF-33D9-6CBE479BC1AD}"/>
              </a:ext>
            </a:extLst>
          </p:cNvPr>
          <p:cNvSpPr txBox="1"/>
          <p:nvPr/>
        </p:nvSpPr>
        <p:spPr>
          <a:xfrm>
            <a:off x="623078" y="994200"/>
            <a:ext cx="6104020" cy="555986"/>
          </a:xfrm>
          <a:prstGeom prst="rect">
            <a:avLst/>
          </a:prstGeom>
          <a:noFill/>
        </p:spPr>
        <p:txBody>
          <a:bodyPr wrap="square">
            <a:spAutoFit/>
          </a:bodyPr>
          <a:lstStyle/>
          <a:p>
            <a:pPr>
              <a:lnSpc>
                <a:spcPct val="115000"/>
              </a:lnSpc>
              <a:spcAft>
                <a:spcPts val="1000"/>
              </a:spcAft>
            </a:pPr>
            <a:r>
              <a:rPr lang="es-ES" sz="2800" b="1" dirty="0">
                <a:solidFill>
                  <a:schemeClr val="bg1"/>
                </a:solidFill>
                <a:effectLst/>
                <a:latin typeface="Arial" panose="020B0604020202020204" pitchFamily="34" charset="0"/>
                <a:ea typeface="SimSun" panose="02010600030101010101" pitchFamily="2" charset="-122"/>
                <a:cs typeface="Arial" panose="020B0604020202020204" pitchFamily="34" charset="0"/>
              </a:rPr>
              <a:t>Ejecución de cliente móvil </a:t>
            </a:r>
            <a:endParaRPr lang="es-EC" sz="16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Imagen 2">
            <a:extLst>
              <a:ext uri="{FF2B5EF4-FFF2-40B4-BE49-F238E27FC236}">
                <a16:creationId xmlns:a16="http://schemas.microsoft.com/office/drawing/2014/main" id="{2F7542BD-5DE0-627D-39B2-C82C33FE5622}"/>
              </a:ext>
            </a:extLst>
          </p:cNvPr>
          <p:cNvPicPr>
            <a:picLocks noChangeAspect="1"/>
          </p:cNvPicPr>
          <p:nvPr/>
        </p:nvPicPr>
        <p:blipFill>
          <a:blip r:embed="rId3"/>
          <a:stretch>
            <a:fillRect/>
          </a:stretch>
        </p:blipFill>
        <p:spPr>
          <a:xfrm>
            <a:off x="1909141" y="1887412"/>
            <a:ext cx="2174148" cy="4831440"/>
          </a:xfrm>
          <a:prstGeom prst="rect">
            <a:avLst/>
          </a:prstGeom>
        </p:spPr>
      </p:pic>
      <p:pic>
        <p:nvPicPr>
          <p:cNvPr id="6" name="Imagen 5">
            <a:extLst>
              <a:ext uri="{FF2B5EF4-FFF2-40B4-BE49-F238E27FC236}">
                <a16:creationId xmlns:a16="http://schemas.microsoft.com/office/drawing/2014/main" id="{1324CC2A-38F5-A77A-CBBA-CF02338D7F02}"/>
              </a:ext>
            </a:extLst>
          </p:cNvPr>
          <p:cNvPicPr>
            <a:picLocks noChangeAspect="1"/>
          </p:cNvPicPr>
          <p:nvPr/>
        </p:nvPicPr>
        <p:blipFill>
          <a:blip r:embed="rId4"/>
          <a:stretch>
            <a:fillRect/>
          </a:stretch>
        </p:blipFill>
        <p:spPr>
          <a:xfrm>
            <a:off x="4552950" y="2026558"/>
            <a:ext cx="2174148" cy="48314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4	CONCLUSIONES</a:t>
            </a:r>
            <a:endParaRPr/>
          </a:p>
        </p:txBody>
      </p:sp>
      <p:sp>
        <p:nvSpPr>
          <p:cNvPr id="550" name="Google Shape;550;p35"/>
          <p:cNvSpPr txBox="1">
            <a:spLocks noGrp="1"/>
          </p:cNvSpPr>
          <p:nvPr>
            <p:ph type="body" idx="1"/>
          </p:nvPr>
        </p:nvSpPr>
        <p:spPr>
          <a:xfrm>
            <a:off x="581192" y="1903306"/>
            <a:ext cx="8176800" cy="3616961"/>
          </a:xfrm>
          <a:prstGeom prst="rect">
            <a:avLst/>
          </a:prstGeom>
          <a:noFill/>
          <a:ln>
            <a:noFill/>
          </a:ln>
        </p:spPr>
        <p:txBody>
          <a:bodyPr spcFirstLastPara="1" wrap="square" lIns="91425" tIns="45700" rIns="91425" bIns="45700" anchor="ctr" anchorCtr="0">
            <a:normAutofit/>
          </a:bodyPr>
          <a:lstStyle/>
          <a:p>
            <a:pPr lvl="0" indent="-325869">
              <a:spcBef>
                <a:spcPts val="960"/>
              </a:spcBef>
              <a:buClr>
                <a:schemeClr val="dk1"/>
              </a:buClr>
              <a:buSzPct val="91999"/>
            </a:pPr>
            <a:r>
              <a:rPr lang="es-MX" dirty="0"/>
              <a:t>La práctica permitió desarrollar un servicio web SOAP sin base de datos con WCF y .NET Framework 4.8 sobre IIS Express y consumirlo desde clientes de consola, escritorio y móvil.</a:t>
            </a:r>
          </a:p>
          <a:p>
            <a:pPr indent="-325869">
              <a:lnSpc>
                <a:spcPct val="110000"/>
              </a:lnSpc>
              <a:spcBef>
                <a:spcPts val="960"/>
              </a:spcBef>
              <a:buClr>
                <a:schemeClr val="dk1"/>
              </a:buClr>
              <a:buSzPct val="91999"/>
            </a:pPr>
            <a:r>
              <a:rPr lang="es-EC" altLang="es-EC" dirty="0"/>
              <a:t>El contrato WSDL y la generación de referencias de servicio facilitan la interoperabilidad; el acceso se controla con las credenciales MONSTER / MONSTER69.</a:t>
            </a:r>
          </a:p>
          <a:p>
            <a:pPr lvl="0" indent="-325869">
              <a:spcBef>
                <a:spcPts val="960"/>
              </a:spcBef>
              <a:buClr>
                <a:schemeClr val="dk1"/>
              </a:buClr>
              <a:buSzPct val="91999"/>
            </a:pPr>
            <a:endParaRPr dirty="0">
              <a:solidFill>
                <a:schemeClr val="dk1"/>
              </a:solidFill>
            </a:endParaRPr>
          </a:p>
        </p:txBody>
      </p:sp>
      <p:sp>
        <p:nvSpPr>
          <p:cNvPr id="551" name="Google Shape;551;p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35</a:t>
            </a:r>
            <a:endParaRPr sz="1400" b="0" i="0" u="none" strike="noStrike" cap="none">
              <a:solidFill>
                <a:srgbClr val="000000"/>
              </a:solidFill>
              <a:latin typeface="Arial"/>
              <a:ea typeface="Arial"/>
              <a:cs typeface="Arial"/>
              <a:sym typeface="Arial"/>
            </a:endParaRPr>
          </a:p>
        </p:txBody>
      </p:sp>
      <p:sp>
        <p:nvSpPr>
          <p:cNvPr id="552" name="Google Shape;552;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3" name="Google Shape;553;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4" name="Google Shape;554;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5</a:t>
            </a:r>
            <a:r>
              <a:rPr lang="es-ES" sz="1100" b="0" i="0" u="none" strike="noStrike" cap="none" dirty="0">
                <a:solidFill>
                  <a:schemeClr val="lt1"/>
                </a:solidFill>
                <a:latin typeface="Gill Sans"/>
                <a:ea typeface="Gill Sans"/>
                <a:cs typeface="Gill Sans"/>
                <a:sym typeface="Gill Sans"/>
              </a:rPr>
              <a:t>	BIBLIOGRAFÍA</a:t>
            </a:r>
            <a:endParaRPr sz="1100" b="0" i="0" u="none" strike="noStrike" cap="none" dirty="0">
              <a:solidFill>
                <a:srgbClr val="FFFF00"/>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6	BIBLIOGRAFÍA</a:t>
            </a:r>
            <a:endParaRPr/>
          </a:p>
        </p:txBody>
      </p:sp>
      <p:sp>
        <p:nvSpPr>
          <p:cNvPr id="570" name="Google Shape;570;p37"/>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Troelsen, A., &amp; Japikse, P. (2022). Pro C# 10 with .NET 6. Apress.</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Pressman, R. S., &amp; Maxim, B. R. (2019). Software Engineering: A Practitioner's Approach (9th ed.). McGraw-Hill Education.</a:t>
            </a:r>
            <a:endParaRPr lang="es-EC" altLang="es-EC" dirty="0">
              <a:latin typeface="Times New Roman" panose="02020603050405020304" pitchFamily="18" charset="0"/>
              <a:ea typeface="Calibri" panose="020F0502020204030204" pitchFamily="34" charset="0"/>
              <a:cs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Microsoft. (2024). Documentación de .NET. https://learn.microsoft.com/dotnet</a:t>
            </a:r>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3509</Words>
  <Application>Microsoft Office PowerPoint</Application>
  <PresentationFormat>Panorámica</PresentationFormat>
  <Paragraphs>749</Paragraphs>
  <Slides>20</Slides>
  <Notes>20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Calibri</vt:lpstr>
      <vt:lpstr>Gill Sans</vt:lpstr>
      <vt:lpstr>Noto Sans Symbols</vt:lpstr>
      <vt:lpstr>Arial</vt:lpstr>
      <vt:lpstr>Times New Roman</vt:lpstr>
      <vt:lpstr>Symbol</vt:lpstr>
      <vt:lpstr>Dividendo</vt:lpstr>
      <vt:lpstr>CONVERSIÓN DE UNIDADES SOAP EN JAVA SIN BASE DE DATOS  </vt:lpstr>
      <vt:lpstr>1 OBJETIVO</vt:lpstr>
      <vt:lpstr>1 OBJETIVOS ESPECIFICOS</vt:lpstr>
      <vt:lpstr>2 DESARROLLO</vt:lpstr>
      <vt:lpstr>2.1.1. CREACIÓN DEL PROYECTO SERVIDOR </vt:lpstr>
      <vt:lpstr>Presentación de PowerPoint</vt:lpstr>
      <vt:lpstr>Presentación de PowerPoint</vt:lpstr>
      <vt:lpstr>2.2 CREACIÓN DEL PROYECTO ESCRITORIO CLIENTE</vt:lpstr>
      <vt:lpstr>Presentación de PowerPoint</vt:lpstr>
      <vt:lpstr>Presentación de PowerPoint</vt:lpstr>
      <vt:lpstr>Presentación de PowerPoint</vt:lpstr>
      <vt:lpstr> 2.3 CREACIÓN DEL CLIENTE EN APLICACIÓN  DE CONSOLA  </vt:lpstr>
      <vt:lpstr> 2.3 CREACIÓN DEL CLIENTE EN APLICACIÓN MÓVIL  </vt:lpstr>
      <vt:lpstr> 2.4. CREACIÓN DEL CLIENTE EN APLICACIÓN DE WEB </vt:lpstr>
      <vt:lpstr> 3 EJECUCIÓN  </vt:lpstr>
      <vt:lpstr>Ejecución del cliente escritorio: </vt:lpstr>
      <vt:lpstr>Ejecución del cliente web: </vt:lpstr>
      <vt:lpstr>Presentación de PowerPoint</vt:lpstr>
      <vt:lpstr>4 CONCLUSIONES</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ARIEL XD</cp:lastModifiedBy>
  <cp:revision>8</cp:revision>
  <dcterms:created xsi:type="dcterms:W3CDTF">2020-07-10T23:33:49Z</dcterms:created>
  <dcterms:modified xsi:type="dcterms:W3CDTF">2026-05-13T01:27:01Z</dcterms:modified>
</cp:coreProperties>
</file>